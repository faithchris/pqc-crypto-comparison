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75" r:id="rId6"/>
    <p:sldId id="261" r:id="rId7"/>
    <p:sldId id="276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0B795-39A1-4671-B8A7-134DA9ED0984}" v="68" dt="2026-04-21T19:53:13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2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ckingham, Allison" userId="e501bdde-f5d4-41bd-9c5c-ea785decf6e4" providerId="ADAL" clId="{0F9B5A57-9C48-49F1-B26D-940A43094829}"/>
    <pc:docChg chg="undo custSel delSld modSld">
      <pc:chgData name="Buckingham, Allison" userId="e501bdde-f5d4-41bd-9c5c-ea785decf6e4" providerId="ADAL" clId="{0F9B5A57-9C48-49F1-B26D-940A43094829}" dt="2026-04-21T19:53:54.048" v="694" actId="120"/>
      <pc:docMkLst>
        <pc:docMk/>
      </pc:docMkLst>
      <pc:sldChg chg="modSp mod">
        <pc:chgData name="Buckingham, Allison" userId="e501bdde-f5d4-41bd-9c5c-ea785decf6e4" providerId="ADAL" clId="{0F9B5A57-9C48-49F1-B26D-940A43094829}" dt="2026-04-21T18:37:58.825" v="6" actId="20577"/>
        <pc:sldMkLst>
          <pc:docMk/>
          <pc:sldMk cId="0" sldId="258"/>
        </pc:sldMkLst>
        <pc:spChg chg="mod">
          <ac:chgData name="Buckingham, Allison" userId="e501bdde-f5d4-41bd-9c5c-ea785decf6e4" providerId="ADAL" clId="{0F9B5A57-9C48-49F1-B26D-940A43094829}" dt="2026-04-21T18:37:58.825" v="6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Buckingham, Allison" userId="e501bdde-f5d4-41bd-9c5c-ea785decf6e4" providerId="ADAL" clId="{0F9B5A57-9C48-49F1-B26D-940A43094829}" dt="2026-04-21T18:50:20.355" v="366" actId="20577"/>
        <pc:sldMkLst>
          <pc:docMk/>
          <pc:sldMk cId="0" sldId="259"/>
        </pc:sldMkLst>
        <pc:spChg chg="mod">
          <ac:chgData name="Buckingham, Allison" userId="e501bdde-f5d4-41bd-9c5c-ea785decf6e4" providerId="ADAL" clId="{0F9B5A57-9C48-49F1-B26D-940A43094829}" dt="2026-04-21T18:42:59.736" v="77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uckingham, Allison" userId="e501bdde-f5d4-41bd-9c5c-ea785decf6e4" providerId="ADAL" clId="{0F9B5A57-9C48-49F1-B26D-940A43094829}" dt="2026-04-21T18:50:20.355" v="366" actId="20577"/>
          <ac:spMkLst>
            <pc:docMk/>
            <pc:sldMk cId="0" sldId="259"/>
            <ac:spMk id="5" creationId="{00000000-0000-0000-0000-000000000000}"/>
          </ac:spMkLst>
        </pc:spChg>
        <pc:picChg chg="add del">
          <ac:chgData name="Buckingham, Allison" userId="e501bdde-f5d4-41bd-9c5c-ea785decf6e4" providerId="ADAL" clId="{0F9B5A57-9C48-49F1-B26D-940A43094829}" dt="2026-04-21T18:45:13.758" v="174" actId="22"/>
          <ac:picMkLst>
            <pc:docMk/>
            <pc:sldMk cId="0" sldId="259"/>
            <ac:picMk id="7" creationId="{FD0E6A9F-448F-163A-2939-8CABE7BAF6F8}"/>
          </ac:picMkLst>
        </pc:picChg>
      </pc:sldChg>
      <pc:sldChg chg="del">
        <pc:chgData name="Buckingham, Allison" userId="e501bdde-f5d4-41bd-9c5c-ea785decf6e4" providerId="ADAL" clId="{0F9B5A57-9C48-49F1-B26D-940A43094829}" dt="2026-04-21T18:50:47.697" v="367" actId="47"/>
        <pc:sldMkLst>
          <pc:docMk/>
          <pc:sldMk cId="0" sldId="260"/>
        </pc:sldMkLst>
      </pc:sldChg>
      <pc:sldChg chg="modSp mod">
        <pc:chgData name="Buckingham, Allison" userId="e501bdde-f5d4-41bd-9c5c-ea785decf6e4" providerId="ADAL" clId="{0F9B5A57-9C48-49F1-B26D-940A43094829}" dt="2026-04-21T19:16:22.028" v="509" actId="20577"/>
        <pc:sldMkLst>
          <pc:docMk/>
          <pc:sldMk cId="0" sldId="261"/>
        </pc:sldMkLst>
        <pc:spChg chg="mod">
          <ac:chgData name="Buckingham, Allison" userId="e501bdde-f5d4-41bd-9c5c-ea785decf6e4" providerId="ADAL" clId="{0F9B5A57-9C48-49F1-B26D-940A43094829}" dt="2026-04-21T18:56:14.298" v="369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Buckingham, Allison" userId="e501bdde-f5d4-41bd-9c5c-ea785decf6e4" providerId="ADAL" clId="{0F9B5A57-9C48-49F1-B26D-940A43094829}" dt="2026-04-21T19:16:22.028" v="509" actId="20577"/>
          <ac:spMkLst>
            <pc:docMk/>
            <pc:sldMk cId="0" sldId="261"/>
            <ac:spMk id="5" creationId="{00000000-0000-0000-0000-000000000000}"/>
          </ac:spMkLst>
        </pc:spChg>
      </pc:sldChg>
      <pc:sldChg chg="addSp delSp modSp mod">
        <pc:chgData name="Buckingham, Allison" userId="e501bdde-f5d4-41bd-9c5c-ea785decf6e4" providerId="ADAL" clId="{0F9B5A57-9C48-49F1-B26D-940A43094829}" dt="2026-04-21T19:23:20.301" v="628" actId="1076"/>
        <pc:sldMkLst>
          <pc:docMk/>
          <pc:sldMk cId="0" sldId="262"/>
        </pc:sldMkLst>
        <pc:spChg chg="mod">
          <ac:chgData name="Buckingham, Allison" userId="e501bdde-f5d4-41bd-9c5c-ea785decf6e4" providerId="ADAL" clId="{0F9B5A57-9C48-49F1-B26D-940A43094829}" dt="2026-04-21T19:15:23.891" v="499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Buckingham, Allison" userId="e501bdde-f5d4-41bd-9c5c-ea785decf6e4" providerId="ADAL" clId="{0F9B5A57-9C48-49F1-B26D-940A43094829}" dt="2026-04-21T19:22:20.108" v="617" actId="20577"/>
          <ac:spMkLst>
            <pc:docMk/>
            <pc:sldMk cId="0" sldId="262"/>
            <ac:spMk id="5" creationId="{00000000-0000-0000-0000-000000000000}"/>
          </ac:spMkLst>
        </pc:spChg>
        <pc:picChg chg="add mod">
          <ac:chgData name="Buckingham, Allison" userId="e501bdde-f5d4-41bd-9c5c-ea785decf6e4" providerId="ADAL" clId="{0F9B5A57-9C48-49F1-B26D-940A43094829}" dt="2026-04-21T19:18:26.390" v="560" actId="1076"/>
          <ac:picMkLst>
            <pc:docMk/>
            <pc:sldMk cId="0" sldId="262"/>
            <ac:picMk id="1026" creationId="{2177B88A-2E3A-EA1C-AFA1-BA35DE7A93EC}"/>
          </ac:picMkLst>
        </pc:picChg>
        <pc:picChg chg="add del mod">
          <ac:chgData name="Buckingham, Allison" userId="e501bdde-f5d4-41bd-9c5c-ea785decf6e4" providerId="ADAL" clId="{0F9B5A57-9C48-49F1-B26D-940A43094829}" dt="2026-04-21T19:19:33.606" v="575" actId="478"/>
          <ac:picMkLst>
            <pc:docMk/>
            <pc:sldMk cId="0" sldId="262"/>
            <ac:picMk id="1028" creationId="{0170C28A-0EC6-4B66-54C7-B91FF3BE15E6}"/>
          </ac:picMkLst>
        </pc:picChg>
        <pc:picChg chg="add mod">
          <ac:chgData name="Buckingham, Allison" userId="e501bdde-f5d4-41bd-9c5c-ea785decf6e4" providerId="ADAL" clId="{0F9B5A57-9C48-49F1-B26D-940A43094829}" dt="2026-04-21T19:23:05.404" v="623" actId="14100"/>
          <ac:picMkLst>
            <pc:docMk/>
            <pc:sldMk cId="0" sldId="262"/>
            <ac:picMk id="1030" creationId="{BE8E2CE1-9D6A-03A8-27FB-AFC452F01098}"/>
          </ac:picMkLst>
        </pc:picChg>
        <pc:picChg chg="add mod">
          <ac:chgData name="Buckingham, Allison" userId="e501bdde-f5d4-41bd-9c5c-ea785decf6e4" providerId="ADAL" clId="{0F9B5A57-9C48-49F1-B26D-940A43094829}" dt="2026-04-21T19:23:20.301" v="628" actId="1076"/>
          <ac:picMkLst>
            <pc:docMk/>
            <pc:sldMk cId="0" sldId="262"/>
            <ac:picMk id="1032" creationId="{3211206D-930D-1851-0C40-47E4152902B4}"/>
          </ac:picMkLst>
        </pc:picChg>
      </pc:sldChg>
      <pc:sldChg chg="del">
        <pc:chgData name="Buckingham, Allison" userId="e501bdde-f5d4-41bd-9c5c-ea785decf6e4" providerId="ADAL" clId="{0F9B5A57-9C48-49F1-B26D-940A43094829}" dt="2026-04-21T19:23:28.371" v="629" actId="47"/>
        <pc:sldMkLst>
          <pc:docMk/>
          <pc:sldMk cId="0" sldId="263"/>
        </pc:sldMkLst>
      </pc:sldChg>
      <pc:sldChg chg="del">
        <pc:chgData name="Buckingham, Allison" userId="e501bdde-f5d4-41bd-9c5c-ea785decf6e4" providerId="ADAL" clId="{0F9B5A57-9C48-49F1-B26D-940A43094829}" dt="2026-04-21T19:23:46.661" v="630" actId="47"/>
        <pc:sldMkLst>
          <pc:docMk/>
          <pc:sldMk cId="0" sldId="264"/>
        </pc:sldMkLst>
      </pc:sldChg>
      <pc:sldChg chg="addSp modSp mod">
        <pc:chgData name="Buckingham, Allison" userId="e501bdde-f5d4-41bd-9c5c-ea785decf6e4" providerId="ADAL" clId="{0F9B5A57-9C48-49F1-B26D-940A43094829}" dt="2026-04-21T19:53:13.460" v="693" actId="1076"/>
        <pc:sldMkLst>
          <pc:docMk/>
          <pc:sldMk cId="0" sldId="267"/>
        </pc:sldMkLst>
        <pc:spChg chg="mod">
          <ac:chgData name="Buckingham, Allison" userId="e501bdde-f5d4-41bd-9c5c-ea785decf6e4" providerId="ADAL" clId="{0F9B5A57-9C48-49F1-B26D-940A43094829}" dt="2026-04-21T19:50:52.391" v="687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Buckingham, Allison" userId="e501bdde-f5d4-41bd-9c5c-ea785decf6e4" providerId="ADAL" clId="{0F9B5A57-9C48-49F1-B26D-940A43094829}" dt="2026-04-21T19:51:21.685" v="688" actId="20577"/>
          <ac:spMkLst>
            <pc:docMk/>
            <pc:sldMk cId="0" sldId="267"/>
            <ac:spMk id="5" creationId="{00000000-0000-0000-0000-000000000000}"/>
          </ac:spMkLst>
        </pc:spChg>
        <pc:picChg chg="add mod">
          <ac:chgData name="Buckingham, Allison" userId="e501bdde-f5d4-41bd-9c5c-ea785decf6e4" providerId="ADAL" clId="{0F9B5A57-9C48-49F1-B26D-940A43094829}" dt="2026-04-21T19:53:13.460" v="693" actId="1076"/>
          <ac:picMkLst>
            <pc:docMk/>
            <pc:sldMk cId="0" sldId="267"/>
            <ac:picMk id="2050" creationId="{BD8F50BC-DC0E-4270-3F3E-B4EAE770DEED}"/>
          </ac:picMkLst>
        </pc:picChg>
      </pc:sldChg>
      <pc:sldChg chg="modSp mod">
        <pc:chgData name="Buckingham, Allison" userId="e501bdde-f5d4-41bd-9c5c-ea785decf6e4" providerId="ADAL" clId="{0F9B5A57-9C48-49F1-B26D-940A43094829}" dt="2026-04-21T19:53:54.048" v="694" actId="120"/>
        <pc:sldMkLst>
          <pc:docMk/>
          <pc:sldMk cId="0" sldId="271"/>
        </pc:sldMkLst>
        <pc:spChg chg="mod">
          <ac:chgData name="Buckingham, Allison" userId="e501bdde-f5d4-41bd-9c5c-ea785decf6e4" providerId="ADAL" clId="{0F9B5A57-9C48-49F1-B26D-940A43094829}" dt="2026-04-21T19:53:54.048" v="694" actId="120"/>
          <ac:spMkLst>
            <pc:docMk/>
            <pc:sldMk cId="0" sldId="271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ett29/Shor-s-Algorithm/blob/master/Shor.ipynb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73152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solidFill>
            <a:srgbClr val="333333"/>
          </a:solidFill>
          <a:ln>
            <a:solidFill>
              <a:srgbClr val="FF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dirty="0"/>
              <a:t>Classical vs </a:t>
            </a:r>
            <a:r>
              <a:rPr dirty="0"/>
              <a:t>Post-Quantum Cryptography</a:t>
            </a:r>
            <a:endParaRPr lang="en-US" dirty="0"/>
          </a:p>
          <a:p>
            <a:pPr algn="ctr">
              <a:defRPr sz="2000">
                <a:solidFill>
                  <a:srgbClr val="FF4E00"/>
                </a:solidFill>
              </a:defRPr>
            </a:pPr>
            <a:r>
              <a:rPr lang="en-US" dirty="0"/>
              <a:t>CSIT 567 | Spring 2026</a:t>
            </a:r>
          </a:p>
          <a:p>
            <a:pPr algn="ctr">
              <a:defRPr sz="2000">
                <a:solidFill>
                  <a:srgbClr val="FF4E00"/>
                </a:solidFill>
              </a:defRPr>
            </a:pPr>
            <a:r>
              <a:rPr lang="en-US" dirty="0"/>
              <a:t>Allison Buckingham and Faith Puppala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</a:t>
            </a:r>
            <a:r>
              <a:rPr dirty="0"/>
              <a:t>Quantum computers pose an existential threat to</a:t>
            </a:r>
            <a:r>
              <a:rPr lang="en-US" dirty="0"/>
              <a:t> cryptography as we know it today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Even now attackers are gathering encrypted data to decrypt once quantum computers become mainstream. 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2030? 2050? 2063 (year of first contact in Star Trek) 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Current asymmetric cryptographic standards (RSA, ECC) rely on integer factorization which is compromised by quantum machines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Post-Quantum Cryptography (PQC) offers quantum-resistant alternatives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</a:t>
            </a:r>
            <a:r>
              <a:rPr lang="en-US" dirty="0"/>
              <a:t>We</a:t>
            </a:r>
            <a:r>
              <a:rPr dirty="0"/>
              <a:t> examine</a:t>
            </a:r>
            <a:r>
              <a:rPr lang="en-US" dirty="0"/>
              <a:t>d</a:t>
            </a:r>
            <a:r>
              <a:rPr dirty="0"/>
              <a:t> the </a:t>
            </a:r>
            <a:r>
              <a:rPr lang="en-US" dirty="0"/>
              <a:t>performance differences</a:t>
            </a:r>
            <a:r>
              <a:rPr dirty="0"/>
              <a:t> </a:t>
            </a:r>
            <a:r>
              <a:rPr lang="en-US" dirty="0"/>
              <a:t>between</a:t>
            </a:r>
            <a:r>
              <a:rPr dirty="0"/>
              <a:t> classic </a:t>
            </a:r>
            <a:r>
              <a:rPr lang="en-US" dirty="0"/>
              <a:t>and</a:t>
            </a:r>
            <a:r>
              <a:rPr dirty="0"/>
              <a:t> post-quantum </a:t>
            </a:r>
            <a:r>
              <a:rPr lang="en-US" dirty="0"/>
              <a:t>cryptography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3887-06BE-49DB-8023-6F767D97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15F2C-2676-FF02-84EB-5DB6FF4ABC4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6515F-42E1-80EB-2131-09157ECD18E5}"/>
              </a:ext>
            </a:extLst>
          </p:cNvPr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6D7FEB-FCEE-3BAF-9F04-D355841E72DF}"/>
              </a:ext>
            </a:extLst>
          </p:cNvPr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Shor’s Algorithm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4415FB-1085-782E-A967-79F7410F5AFB}"/>
              </a:ext>
            </a:extLst>
          </p:cNvPr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▸ Shor's algorithm provides exponential speedup for integer factorization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Ref: </a:t>
            </a:r>
            <a:r>
              <a:rPr lang="en-US" sz="2000" dirty="0">
                <a:hlinkClick r:id="rId2"/>
              </a:rPr>
              <a:t>Shor-s-Algorithm/</a:t>
            </a:r>
            <a:r>
              <a:rPr lang="en-US" sz="2000" dirty="0" err="1">
                <a:hlinkClick r:id="rId2"/>
              </a:rPr>
              <a:t>Shor.ipynb</a:t>
            </a:r>
            <a:r>
              <a:rPr lang="en-US" sz="2000" dirty="0">
                <a:hlinkClick r:id="rId2"/>
              </a:rPr>
              <a:t> at master · mett29/Shor-s-Algorithm · GitHub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B3954E-D20F-8CA6-878C-A75950C8A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76" y="2487183"/>
            <a:ext cx="4906060" cy="2505425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E4B0C7-544F-5F04-2BE1-19FCC837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76" y="4904712"/>
            <a:ext cx="10406129" cy="152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rtoon showing a landscape divided between entanglement and magic. The entanglement part of the landscape is green, with gently rolling terrain, and a computer hovering above it with a green tick mark. The magic part is filled with spiky black mountains and fiery red pits, and the computer hovering above it is in flames">
            <a:extLst>
              <a:ext uri="{FF2B5EF4-FFF2-40B4-BE49-F238E27FC236}">
                <a16:creationId xmlns:a16="http://schemas.microsoft.com/office/drawing/2014/main" id="{8160716B-34A1-C91B-50D0-C5BBFA12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266" y="2872250"/>
            <a:ext cx="2386676" cy="189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73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Classic Cryptography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Asymmetric (Public-Key): RSA, DSA, ECDSA, ECDH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Security based on integer factorization &amp; discrete logarithm problems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Foundation of modern TLS/HTTPS infrastructure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</a:t>
            </a:r>
            <a:r>
              <a:rPr lang="en-US" dirty="0"/>
              <a:t>V</a:t>
            </a:r>
            <a:r>
              <a:rPr dirty="0"/>
              <a:t>ulnerability</a:t>
            </a:r>
            <a:r>
              <a:rPr lang="en-US" dirty="0"/>
              <a:t> to quantum computing</a:t>
            </a:r>
            <a:r>
              <a:rPr dirty="0"/>
              <a:t> represents a fundamental architectural risk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▸ Symmetric (AES , ChaCha20, </a:t>
            </a:r>
            <a:r>
              <a:rPr lang="en-US" dirty="0" err="1"/>
              <a:t>Twofish</a:t>
            </a:r>
            <a:r>
              <a:rPr lang="en-US" dirty="0"/>
              <a:t>, 3DES) is not vulnerable to quantum computers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71AB-2D28-0A15-3BB4-95E4C2492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DC58F8-22A2-B543-9B46-5D8DE995B2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A7D56-A3E7-65F4-9B86-5B7E40E2FF50}"/>
              </a:ext>
            </a:extLst>
          </p:cNvPr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B3290-95FC-FEE1-B97F-9F82D44E6734}"/>
              </a:ext>
            </a:extLst>
          </p:cNvPr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Classic Cryptography</a:t>
            </a:r>
            <a:r>
              <a:rPr lang="en-US" dirty="0"/>
              <a:t> Used in Project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B328F-C0EC-AB81-B051-CE539FECEB0B}"/>
              </a:ext>
            </a:extLst>
          </p:cNvPr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For digital signatures we used Elliptic Curve Digital Signature Algorithm (ECDSA)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▸ Dominant standard for TLS certificates, cryptocurrencies, mobile platforms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Include python package details here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For key exchange we used Elliptic Curve Diffie-Hellman (ECDH)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▸ Foundation of TLS 1.3 handshake mechanism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Include python package details here</a:t>
            </a:r>
          </a:p>
        </p:txBody>
      </p:sp>
    </p:spTree>
    <p:extLst>
      <p:ext uri="{BB962C8B-B14F-4D97-AF65-F5344CB8AC3E}">
        <p14:creationId xmlns:p14="http://schemas.microsoft.com/office/powerpoint/2010/main" val="375596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Post-Quantum Cryptography</a:t>
            </a:r>
            <a:r>
              <a:rPr lang="en-US" dirty="0"/>
              <a:t> Used in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▸ For digital signatures we used </a:t>
            </a:r>
            <a:r>
              <a:rPr dirty="0"/>
              <a:t>ML-DSA: Module-Lattice Digital Signature Algorithm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	 ▸ NIST Standard: FIPS 204 (approved 2024)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	Include python package details here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</a:t>
            </a:r>
            <a:r>
              <a:rPr lang="en-US" dirty="0"/>
              <a:t>For key encapsulation we used </a:t>
            </a:r>
            <a:r>
              <a:rPr dirty="0"/>
              <a:t>ML-KEM: Module-Lattice Key Encapsulation Mechanism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	▸ Key exchange calculates a shared secret collaboratively, while KEM generates a secret on one side and "encapsulates" (encrypts) it using the recipient's public key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	Include python package details here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25D-4D2F-DE73-6ABE-0D82B124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E6C231-7405-CF3F-4942-0D19586B878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BB5EA-1061-04DD-EA1B-D036C42D410D}"/>
              </a:ext>
            </a:extLst>
          </p:cNvPr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AE7F17-5DE5-9053-3B40-5FE23044FC13}"/>
              </a:ext>
            </a:extLst>
          </p:cNvPr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Post-Quantum Cryptography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DBFD7-4FEF-F622-E9C6-4D5EF72FCCAB}"/>
              </a:ext>
            </a:extLst>
          </p:cNvPr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Post Quantum Cryptography is based on hard lattice problems believed resistant to quantum attack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A lattice is an infinite grid of points in high-dimensional space. 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	A two-dimensional lattice might look something like this.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The security relies on problems like the Shortest Vector Problem (SVP)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▸ “Noise“ is moving slightly off the exact lattice point.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</p:txBody>
      </p:sp>
      <p:pic>
        <p:nvPicPr>
          <p:cNvPr id="6" name="Picture 8" descr="Illustration of an example lattice">
            <a:extLst>
              <a:ext uri="{FF2B5EF4-FFF2-40B4-BE49-F238E27FC236}">
                <a16:creationId xmlns:a16="http://schemas.microsoft.com/office/drawing/2014/main" id="{FE4243FC-1CC2-4FD3-6E0A-6C08CC31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829" y="4297680"/>
            <a:ext cx="3022014" cy="196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2D9B6-0F52-B80E-9BB1-006FF9D18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481" y="3663319"/>
            <a:ext cx="3528055" cy="264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87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Benchmark Results: Artifact Sizes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212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Classical (ECDSA/ECDH)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ECDSA Signature: 70 bytes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ECDSA Public Key: 91 bytes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ECDH Public Key: 91 bytes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280160"/>
            <a:ext cx="5486400" cy="52120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7B1FA2"/>
                </a:solidFill>
              </a:defRPr>
            </a:pPr>
            <a:r>
              <a:t>Post-Quantum (ML-DSA/ML-KEM)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ML-DSA Signature: 2,420 bytes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ML-DSA Public Key: 1,312 bytes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ML-KEM Ciphertext: 1,088 bytes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ML-KEM Public Key: 1,184 bytes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Benchmark Results: Operation Times (30 runs)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212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Classical (ECDSA/ECDH)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ECDSA: Keygen 0.12ms | Sign 0.28ms | Verify 0.08ms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ECDH: Keygen 0.02ms | Exchange 0.09ms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280160"/>
            <a:ext cx="5486400" cy="52120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7B1FA2"/>
                </a:solidFill>
              </a:defRPr>
            </a:pPr>
            <a:r>
              <a:t>Post-Quantum (ML-DSA/ML-KEM)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ML-DSA: Keygen 3.63ms | Sign 18.73ms | Verify 4.29ms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ML-KEM: Keygen 2.05ms | Encaps 2.67ms | Decaps 3.65ms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dirty="0"/>
              <a:t>Demo of Comparison Site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  <p:pic>
        <p:nvPicPr>
          <p:cNvPr id="2050" name="Picture 2" descr="Demo Icon Desing Element 53496217 Vector Art at Vecteezy">
            <a:extLst>
              <a:ext uri="{FF2B5EF4-FFF2-40B4-BE49-F238E27FC236}">
                <a16:creationId xmlns:a16="http://schemas.microsoft.com/office/drawing/2014/main" id="{BD8F50BC-DC0E-4270-3F3E-B4EAE770D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126" y="2059007"/>
            <a:ext cx="5209442" cy="365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PQC certificates ~40x larger than classical (~160KB vs ~4KB)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Network overhead impacts handshake latency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Quote: 'The bigger you make the certificate, the slower the handshake...' — Bas </a:t>
            </a:r>
            <a:r>
              <a:rPr dirty="0" err="1"/>
              <a:t>Westerbaan</a:t>
            </a:r>
            <a:r>
              <a:rPr dirty="0"/>
              <a:t>, Cloudflare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Risk of user abandonment if perceived performance degradation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▸ Backward compatibility requirements complicate migration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Industry Solutions &amp;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Merkle Tree Certificates: Efficient verification of large datasets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Google's Quantum-Resistant Root Store: ML-DSA in Chrome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Cloudflare pilot: ~1,000 PQC-enabled certificates deployed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Hybrid key exchange: Immediate quantum resistance via dual algorithms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CAs preparing for full PQC certificate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Security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▸ Defense in Depth: Attacker must compromise BOTH classical AND PQC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▸ Harvest Now, Decrypt Later: Current encrypted data vulnerable in future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▸ Lattice problems believed to resist all known quantum algorithms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▸ Projected transition timeline: 10-15 years for full adoption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▸ Hybrid systems provide transitional quantum resistance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7286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PQC is essential for long-term cryptographic security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Measured trade-off: 35x size increase, 10-60x slower operations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Real-world deployment accelerating (Google, Cloudflare, NIST)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Hybrid approach provides immediate protection during transition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▸ Proactive adoption necessary to protect sensitive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 &amp; Acknowledgments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NIST FIPS 204: Module-Lattice-Based Digital Signatures (2024)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Google Security Blog: Quantum-Resistant HTTPS Certificates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Cloudflare Research: Post-Quantum TLS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Ars Technica: 'Google is using clever math to quantum-proof HTTPS' (2026)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▸ Benchmark data collected using dilithium-py and kyber-py libraries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73152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solidFill>
            <a:srgbClr val="333333"/>
          </a:solidFill>
          <a:ln>
            <a:solidFill>
              <a:srgbClr val="FF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 algn="ctr">
              <a:defRPr sz="2000">
                <a:solidFill>
                  <a:srgbClr val="FF4E00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788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Allison Boswell</cp:lastModifiedBy>
  <cp:revision>8</cp:revision>
  <dcterms:created xsi:type="dcterms:W3CDTF">2013-01-27T09:14:16Z</dcterms:created>
  <dcterms:modified xsi:type="dcterms:W3CDTF">2026-04-22T02:44:23Z</dcterms:modified>
  <cp:category/>
</cp:coreProperties>
</file>